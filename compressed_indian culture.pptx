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</p:sldIdLst>
  <p:sldSz cx="14630400" cy="8229600"/>
  <p:notesSz cx="8229600" cy="14630400"/>
  <p:embeddedFontLst>
    <p:embeddedFont>
      <p:font typeface="Host Grotesk Medium" panose="020B0604020202020204" charset="0"/>
      <p:regular r:id="rId20"/>
    </p:embeddedFont>
    <p:embeddedFont>
      <p:font typeface="Roboto" panose="02000000000000000000" pitchFamily="2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2" d="100"/>
          <a:sy n="62" d="100"/>
        </p:scale>
        <p:origin x="332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906143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7E0E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AF9F5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10" Type="http://schemas.openxmlformats.org/officeDocument/2006/relationships/image" Target="../media/image15.sv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30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12" Type="http://schemas.openxmlformats.org/officeDocument/2006/relationships/image" Target="../media/image29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3.sv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5" Type="http://schemas.openxmlformats.org/officeDocument/2006/relationships/image" Target="../media/image32.sv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svg"/><Relationship Id="rId14" Type="http://schemas.openxmlformats.org/officeDocument/2006/relationships/image" Target="../media/image3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37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4" Type="http://schemas.openxmlformats.org/officeDocument/2006/relationships/image" Target="../media/image34.sv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svg"/><Relationship Id="rId3" Type="http://schemas.openxmlformats.org/officeDocument/2006/relationships/image" Target="../media/image38.png"/><Relationship Id="rId7" Type="http://schemas.openxmlformats.org/officeDocument/2006/relationships/image" Target="../media/image42.png"/><Relationship Id="rId12" Type="http://schemas.openxmlformats.org/officeDocument/2006/relationships/image" Target="../media/image47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41.svg"/><Relationship Id="rId11" Type="http://schemas.openxmlformats.org/officeDocument/2006/relationships/image" Target="../media/image46.png"/><Relationship Id="rId5" Type="http://schemas.openxmlformats.org/officeDocument/2006/relationships/image" Target="../media/image40.png"/><Relationship Id="rId10" Type="http://schemas.openxmlformats.org/officeDocument/2006/relationships/image" Target="../media/image45.svg"/><Relationship Id="rId4" Type="http://schemas.openxmlformats.org/officeDocument/2006/relationships/image" Target="../media/image39.svg"/><Relationship Id="rId9" Type="http://schemas.openxmlformats.org/officeDocument/2006/relationships/image" Target="../media/image4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52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598063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Indian Culture &amp; Heritage Tourism Website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4355783"/>
            <a:ext cx="7556421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Explore • Learn • Travel • Book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93790" y="4951095"/>
            <a:ext cx="7556421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comprehensive digital platform connecting travellers with India's rich cultural heritage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280190" y="639366"/>
            <a:ext cx="1556742" cy="408146"/>
          </a:xfrm>
          <a:prstGeom prst="roundRect">
            <a:avLst>
              <a:gd name="adj" fmla="val 18673"/>
            </a:avLst>
          </a:prstGeom>
          <a:solidFill>
            <a:srgbClr val="D9EDF2"/>
          </a:solidFill>
          <a:ln/>
        </p:spPr>
      </p:sp>
      <p:sp>
        <p:nvSpPr>
          <p:cNvPr id="4" name="Text 1"/>
          <p:cNvSpPr/>
          <p:nvPr/>
        </p:nvSpPr>
        <p:spPr>
          <a:xfrm>
            <a:off x="6416278" y="707350"/>
            <a:ext cx="1284565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INTRODUCTION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6280190" y="113823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Bridging Heritage and Modern Tourism</a:t>
            </a:r>
            <a:endParaRPr lang="en-US" sz="4450" dirty="0"/>
          </a:p>
        </p:txBody>
      </p:sp>
      <p:sp>
        <p:nvSpPr>
          <p:cNvPr id="6" name="Text 3"/>
          <p:cNvSpPr/>
          <p:nvPr/>
        </p:nvSpPr>
        <p:spPr>
          <a:xfrm>
            <a:off x="6280190" y="3100030"/>
            <a:ext cx="3501509" cy="20409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India stands as a treasure trove of rich culture, heritage, and ancient traditions that span millennia. Each year, millions of tourists from across the globe journey to experience its magnificence.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6280190" y="5345073"/>
            <a:ext cx="3501509" cy="20409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However, travellers often struggle with fragmented information scattered across countless websites, making trip planning overwhelming and time-consuming.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10342721" y="3100030"/>
            <a:ext cx="3501509" cy="27212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Our innovative project addresses this challenge by creating a unified digital platform where tourists can seamlessly explore authentic heritage sites, learn their fascinating histories, and complete their bookings—all in one place.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10342721" y="6025396"/>
            <a:ext cx="3501509" cy="13606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solution transforms the complex tourism planning process into an intuitive, engaging experience.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240036"/>
            <a:ext cx="1954649" cy="423386"/>
          </a:xfrm>
          <a:prstGeom prst="roundRect">
            <a:avLst>
              <a:gd name="adj" fmla="val 18001"/>
            </a:avLst>
          </a:prstGeom>
          <a:noFill/>
          <a:ln w="7620">
            <a:solidFill>
              <a:srgbClr val="95CCDA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37498" y="1361003"/>
            <a:ext cx="181451" cy="1814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09675" y="1315641"/>
            <a:ext cx="1395055" cy="272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95CCD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PROJECT VISION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93790" y="1754148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Aim of the Project</a:t>
            </a:r>
            <a:endParaRPr lang="en-US" sz="4450" dirty="0"/>
          </a:p>
        </p:txBody>
      </p:sp>
      <p:sp>
        <p:nvSpPr>
          <p:cNvPr id="6" name="Shape 3"/>
          <p:cNvSpPr/>
          <p:nvPr/>
        </p:nvSpPr>
        <p:spPr>
          <a:xfrm>
            <a:off x="793790" y="2803088"/>
            <a:ext cx="6407944" cy="1979771"/>
          </a:xfrm>
          <a:prstGeom prst="roundRect">
            <a:avLst>
              <a:gd name="adj" fmla="val 4812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28224" y="3037522"/>
            <a:ext cx="317468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Promote Digital Heritage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028224" y="3527941"/>
            <a:ext cx="5939076" cy="10204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Showcase India's cultural wealth through an engaging digital platform that reaches global audiences and preserves our heritage for future generations.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7428548" y="2803088"/>
            <a:ext cx="6408063" cy="1979771"/>
          </a:xfrm>
          <a:prstGeom prst="roundRect">
            <a:avLst>
              <a:gd name="adj" fmla="val 4812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662982" y="3037522"/>
            <a:ext cx="358604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Comprehensive Information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7662982" y="3527941"/>
            <a:ext cx="5939195" cy="10204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Provide detailed, accurate information about heritage destinations including history, architecture, cultural significance, and practical visiting details.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793790" y="5009674"/>
            <a:ext cx="6407944" cy="1979771"/>
          </a:xfrm>
          <a:prstGeom prst="roundRect">
            <a:avLst>
              <a:gd name="adj" fmla="val 4812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28224" y="524410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Seamless Booking</a:t>
            </a:r>
            <a:endParaRPr lang="en-US" sz="2200" dirty="0"/>
          </a:p>
        </p:txBody>
      </p:sp>
      <p:sp>
        <p:nvSpPr>
          <p:cNvPr id="14" name="Text 11"/>
          <p:cNvSpPr/>
          <p:nvPr/>
        </p:nvSpPr>
        <p:spPr>
          <a:xfrm>
            <a:off x="1028224" y="5734526"/>
            <a:ext cx="5939076" cy="10204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Enable effortless trip planning with integrated booking systems for accommodations, travel packages, and local guides—all from a single interface.</a:t>
            </a:r>
            <a:endParaRPr lang="en-US" sz="1750" dirty="0"/>
          </a:p>
        </p:txBody>
      </p:sp>
      <p:sp>
        <p:nvSpPr>
          <p:cNvPr id="15" name="Shape 12"/>
          <p:cNvSpPr/>
          <p:nvPr/>
        </p:nvSpPr>
        <p:spPr>
          <a:xfrm>
            <a:off x="7428548" y="5009674"/>
            <a:ext cx="6408063" cy="1979771"/>
          </a:xfrm>
          <a:prstGeom prst="roundRect">
            <a:avLst>
              <a:gd name="adj" fmla="val 4812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662982" y="5244108"/>
            <a:ext cx="326445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User-Friendly Experience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7662982" y="5734526"/>
            <a:ext cx="5939195" cy="10204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Create an intuitive platform that simplifies tourism planning, making India's heritage accessible to travellers of all experience levels.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85919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Problem Statement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1848326"/>
            <a:ext cx="13042821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Current tourism planning in India faces several critical challenges that hinder the traveller experience: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2443639"/>
            <a:ext cx="6407944" cy="2436614"/>
          </a:xfrm>
          <a:prstGeom prst="roundRect">
            <a:avLst>
              <a:gd name="adj" fmla="val 6004"/>
            </a:avLst>
          </a:prstGeom>
          <a:solidFill>
            <a:srgbClr val="FAF9F5"/>
          </a:solidFill>
          <a:ln w="30480">
            <a:solidFill>
              <a:srgbClr val="95CC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3310" y="2443639"/>
            <a:ext cx="121920" cy="2436614"/>
          </a:xfrm>
          <a:prstGeom prst="roundRect">
            <a:avLst>
              <a:gd name="adj" fmla="val 78139"/>
            </a:avLst>
          </a:prstGeom>
          <a:solidFill>
            <a:srgbClr val="95CCDA"/>
          </a:solidFill>
          <a:ln/>
        </p:spPr>
      </p:sp>
      <p:sp>
        <p:nvSpPr>
          <p:cNvPr id="6" name="Text 4"/>
          <p:cNvSpPr/>
          <p:nvPr/>
        </p:nvSpPr>
        <p:spPr>
          <a:xfrm>
            <a:off x="1142524" y="2700933"/>
            <a:ext cx="376154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Fragmented Information</a:t>
            </a:r>
            <a:endParaRPr lang="en-US" sz="2650" dirty="0"/>
          </a:p>
        </p:txBody>
      </p:sp>
      <p:sp>
        <p:nvSpPr>
          <p:cNvPr id="7" name="Text 5"/>
          <p:cNvSpPr/>
          <p:nvPr/>
        </p:nvSpPr>
        <p:spPr>
          <a:xfrm>
            <a:off x="1142524" y="3262313"/>
            <a:ext cx="5801916" cy="13606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Heritage site details are scattered across numerous websites, blogs, and platforms, requiring extensive research and verification. Tourists spend hours piecing together basic information.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428548" y="2443639"/>
            <a:ext cx="6408063" cy="2436614"/>
          </a:xfrm>
          <a:prstGeom prst="roundRect">
            <a:avLst>
              <a:gd name="adj" fmla="val 6004"/>
            </a:avLst>
          </a:prstGeom>
          <a:solidFill>
            <a:srgbClr val="FAF9F5"/>
          </a:solidFill>
          <a:ln w="30480">
            <a:solidFill>
              <a:srgbClr val="C364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98067" y="2443639"/>
            <a:ext cx="121920" cy="2436614"/>
          </a:xfrm>
          <a:prstGeom prst="roundRect">
            <a:avLst>
              <a:gd name="adj" fmla="val 78139"/>
            </a:avLst>
          </a:prstGeom>
          <a:solidFill>
            <a:srgbClr val="C3643D"/>
          </a:solidFill>
          <a:ln/>
        </p:spPr>
      </p:sp>
      <p:sp>
        <p:nvSpPr>
          <p:cNvPr id="10" name="Text 8"/>
          <p:cNvSpPr/>
          <p:nvPr/>
        </p:nvSpPr>
        <p:spPr>
          <a:xfrm>
            <a:off x="7777282" y="2700933"/>
            <a:ext cx="3693914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No Centralized Platform</a:t>
            </a:r>
            <a:endParaRPr lang="en-US" sz="2650" dirty="0"/>
          </a:p>
        </p:txBody>
      </p:sp>
      <p:sp>
        <p:nvSpPr>
          <p:cNvPr id="11" name="Text 9"/>
          <p:cNvSpPr/>
          <p:nvPr/>
        </p:nvSpPr>
        <p:spPr>
          <a:xfrm>
            <a:off x="7777282" y="3262313"/>
            <a:ext cx="5802035" cy="10204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absence of a unified tourism portal forces travellers to navigate multiple booking systems, leading to confusion, higher costs, and booking inconsistencies.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93790" y="5107067"/>
            <a:ext cx="6407944" cy="2436614"/>
          </a:xfrm>
          <a:prstGeom prst="roundRect">
            <a:avLst>
              <a:gd name="adj" fmla="val 6004"/>
            </a:avLst>
          </a:prstGeom>
          <a:solidFill>
            <a:srgbClr val="FAF9F5"/>
          </a:solidFill>
          <a:ln w="30480">
            <a:solidFill>
              <a:srgbClr val="64B8C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63310" y="5107067"/>
            <a:ext cx="121920" cy="2436614"/>
          </a:xfrm>
          <a:prstGeom prst="roundRect">
            <a:avLst>
              <a:gd name="adj" fmla="val 78139"/>
            </a:avLst>
          </a:prstGeom>
          <a:solidFill>
            <a:srgbClr val="64B8CE"/>
          </a:solidFill>
          <a:ln/>
        </p:spPr>
      </p:sp>
      <p:sp>
        <p:nvSpPr>
          <p:cNvPr id="14" name="Text 12"/>
          <p:cNvSpPr/>
          <p:nvPr/>
        </p:nvSpPr>
        <p:spPr>
          <a:xfrm>
            <a:off x="1142524" y="5364361"/>
            <a:ext cx="405098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Complex Booking Process</a:t>
            </a:r>
            <a:endParaRPr lang="en-US" sz="2650" dirty="0"/>
          </a:p>
        </p:txBody>
      </p:sp>
      <p:sp>
        <p:nvSpPr>
          <p:cNvPr id="15" name="Text 13"/>
          <p:cNvSpPr/>
          <p:nvPr/>
        </p:nvSpPr>
        <p:spPr>
          <a:xfrm>
            <a:off x="1142524" y="5925741"/>
            <a:ext cx="5801916" cy="13606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Coordinating hotels, transport, and guided tours separately creates logistical nightmares. Travellers struggle to synchronise bookings and often miss opportunities.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428548" y="5107067"/>
            <a:ext cx="6408063" cy="2436614"/>
          </a:xfrm>
          <a:prstGeom prst="roundRect">
            <a:avLst>
              <a:gd name="adj" fmla="val 6004"/>
            </a:avLst>
          </a:prstGeom>
          <a:solidFill>
            <a:srgbClr val="FAF9F5"/>
          </a:solidFill>
          <a:ln w="30480">
            <a:solidFill>
              <a:srgbClr val="E9CFC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98067" y="5107067"/>
            <a:ext cx="121920" cy="2436614"/>
          </a:xfrm>
          <a:prstGeom prst="roundRect">
            <a:avLst>
              <a:gd name="adj" fmla="val 78139"/>
            </a:avLst>
          </a:prstGeom>
          <a:solidFill>
            <a:srgbClr val="E9CFC9"/>
          </a:solidFill>
          <a:ln/>
        </p:spPr>
      </p:sp>
      <p:sp>
        <p:nvSpPr>
          <p:cNvPr id="18" name="Text 16"/>
          <p:cNvSpPr/>
          <p:nvPr/>
        </p:nvSpPr>
        <p:spPr>
          <a:xfrm>
            <a:off x="7777282" y="5364361"/>
            <a:ext cx="3750707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Limited Cultural Context</a:t>
            </a:r>
            <a:endParaRPr lang="en-US" sz="2650" dirty="0"/>
          </a:p>
        </p:txBody>
      </p:sp>
      <p:sp>
        <p:nvSpPr>
          <p:cNvPr id="19" name="Text 17"/>
          <p:cNvSpPr/>
          <p:nvPr/>
        </p:nvSpPr>
        <p:spPr>
          <a:xfrm>
            <a:off x="7777282" y="5925741"/>
            <a:ext cx="5802035" cy="10204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Many platforms lack deep cultural insights and historical context, preventing tourists from fully appreciating the significance of heritage sites they visit.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62461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90838" y="3200281"/>
            <a:ext cx="1585079" cy="359807"/>
          </a:xfrm>
          <a:prstGeom prst="roundRect">
            <a:avLst>
              <a:gd name="adj" fmla="val 18675"/>
            </a:avLst>
          </a:prstGeom>
          <a:solidFill>
            <a:srgbClr val="D9EDF2"/>
          </a:solidFill>
          <a:ln/>
        </p:spPr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10734" y="3300174"/>
            <a:ext cx="159901" cy="15990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350526" y="3260169"/>
            <a:ext cx="1105495" cy="2400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2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OUR SOLUTION</a:t>
            </a:r>
            <a:endParaRPr lang="en-US" sz="1250" dirty="0"/>
          </a:p>
        </p:txBody>
      </p:sp>
      <p:sp>
        <p:nvSpPr>
          <p:cNvPr id="6" name="Text 2"/>
          <p:cNvSpPr/>
          <p:nvPr/>
        </p:nvSpPr>
        <p:spPr>
          <a:xfrm>
            <a:off x="990838" y="3639979"/>
            <a:ext cx="8976836" cy="624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900"/>
              </a:lnSpc>
              <a:buNone/>
            </a:pPr>
            <a:r>
              <a:rPr lang="en-US" sz="39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A Comprehensive Web-Based Platform</a:t>
            </a:r>
            <a:endParaRPr lang="en-US" sz="3900" dirty="0"/>
          </a:p>
        </p:txBody>
      </p:sp>
      <p:sp>
        <p:nvSpPr>
          <p:cNvPr id="7" name="Shape 3"/>
          <p:cNvSpPr/>
          <p:nvPr/>
        </p:nvSpPr>
        <p:spPr>
          <a:xfrm>
            <a:off x="990838" y="4564737"/>
            <a:ext cx="449937" cy="449937"/>
          </a:xfrm>
          <a:prstGeom prst="roundRect">
            <a:avLst>
              <a:gd name="adj" fmla="val 18667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065788" y="4602182"/>
            <a:ext cx="299918" cy="374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2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1</a:t>
            </a:r>
            <a:endParaRPr lang="en-US" sz="2350" dirty="0"/>
          </a:p>
        </p:txBody>
      </p:sp>
      <p:sp>
        <p:nvSpPr>
          <p:cNvPr id="9" name="Text 5"/>
          <p:cNvSpPr/>
          <p:nvPr/>
        </p:nvSpPr>
        <p:spPr>
          <a:xfrm>
            <a:off x="1640681" y="4602123"/>
            <a:ext cx="2999661" cy="374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Rich Cultural Content</a:t>
            </a:r>
            <a:endParaRPr lang="en-US" sz="2350" dirty="0"/>
          </a:p>
        </p:txBody>
      </p:sp>
      <p:sp>
        <p:nvSpPr>
          <p:cNvPr id="10" name="Text 6"/>
          <p:cNvSpPr/>
          <p:nvPr/>
        </p:nvSpPr>
        <p:spPr>
          <a:xfrm>
            <a:off x="1640681" y="5096828"/>
            <a:ext cx="5549503" cy="900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Detailed profiles of Indian cultural and heritage places showcasing history, architecture, and cultural importance with stunning photography.</a:t>
            </a:r>
            <a:endParaRPr lang="en-US" sz="1550" dirty="0"/>
          </a:p>
        </p:txBody>
      </p:sp>
      <p:sp>
        <p:nvSpPr>
          <p:cNvPr id="11" name="Shape 7"/>
          <p:cNvSpPr/>
          <p:nvPr/>
        </p:nvSpPr>
        <p:spPr>
          <a:xfrm>
            <a:off x="7440097" y="4564737"/>
            <a:ext cx="449937" cy="449937"/>
          </a:xfrm>
          <a:prstGeom prst="roundRect">
            <a:avLst>
              <a:gd name="adj" fmla="val 18667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7515046" y="4602182"/>
            <a:ext cx="299918" cy="374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2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2</a:t>
            </a:r>
            <a:endParaRPr lang="en-US" sz="2350" dirty="0"/>
          </a:p>
        </p:txBody>
      </p:sp>
      <p:sp>
        <p:nvSpPr>
          <p:cNvPr id="13" name="Text 9"/>
          <p:cNvSpPr/>
          <p:nvPr/>
        </p:nvSpPr>
        <p:spPr>
          <a:xfrm>
            <a:off x="8089940" y="4602123"/>
            <a:ext cx="3707963" cy="374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Integrated Booking System</a:t>
            </a:r>
            <a:endParaRPr lang="en-US" sz="2350" dirty="0"/>
          </a:p>
        </p:txBody>
      </p:sp>
      <p:sp>
        <p:nvSpPr>
          <p:cNvPr id="14" name="Text 10"/>
          <p:cNvSpPr/>
          <p:nvPr/>
        </p:nvSpPr>
        <p:spPr>
          <a:xfrm>
            <a:off x="8089940" y="5096828"/>
            <a:ext cx="5549503" cy="9001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Seamlessly book trips, accommodation, and local guides directly through the platform with real-time availability and instant confirmation.</a:t>
            </a:r>
            <a:endParaRPr lang="en-US" sz="1550" dirty="0"/>
          </a:p>
        </p:txBody>
      </p:sp>
      <p:sp>
        <p:nvSpPr>
          <p:cNvPr id="15" name="Shape 11"/>
          <p:cNvSpPr/>
          <p:nvPr/>
        </p:nvSpPr>
        <p:spPr>
          <a:xfrm>
            <a:off x="990838" y="6396871"/>
            <a:ext cx="449937" cy="449937"/>
          </a:xfrm>
          <a:prstGeom prst="roundRect">
            <a:avLst>
              <a:gd name="adj" fmla="val 18667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1065788" y="6434316"/>
            <a:ext cx="299918" cy="374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2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3</a:t>
            </a:r>
            <a:endParaRPr lang="en-US" sz="2350" dirty="0"/>
          </a:p>
        </p:txBody>
      </p:sp>
      <p:sp>
        <p:nvSpPr>
          <p:cNvPr id="17" name="Text 13"/>
          <p:cNvSpPr/>
          <p:nvPr/>
        </p:nvSpPr>
        <p:spPr>
          <a:xfrm>
            <a:off x="1640681" y="6434257"/>
            <a:ext cx="3162657" cy="374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Smart Navigation Tools</a:t>
            </a:r>
            <a:endParaRPr lang="en-US" sz="2350" dirty="0"/>
          </a:p>
        </p:txBody>
      </p:sp>
      <p:sp>
        <p:nvSpPr>
          <p:cNvPr id="18" name="Text 14"/>
          <p:cNvSpPr/>
          <p:nvPr/>
        </p:nvSpPr>
        <p:spPr>
          <a:xfrm>
            <a:off x="1640681" y="6928961"/>
            <a:ext cx="5549503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Interactive maps, optimal visiting times, entry fee information, and detailed directions to help tourists plan efficiently.</a:t>
            </a:r>
            <a:endParaRPr lang="en-US" sz="1550" dirty="0"/>
          </a:p>
        </p:txBody>
      </p:sp>
      <p:sp>
        <p:nvSpPr>
          <p:cNvPr id="19" name="Shape 15"/>
          <p:cNvSpPr/>
          <p:nvPr/>
        </p:nvSpPr>
        <p:spPr>
          <a:xfrm>
            <a:off x="7440097" y="6396871"/>
            <a:ext cx="449937" cy="449937"/>
          </a:xfrm>
          <a:prstGeom prst="roundRect">
            <a:avLst>
              <a:gd name="adj" fmla="val 18667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7515046" y="6434316"/>
            <a:ext cx="299918" cy="374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2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4</a:t>
            </a:r>
            <a:endParaRPr lang="en-US" sz="2350" dirty="0"/>
          </a:p>
        </p:txBody>
      </p:sp>
      <p:sp>
        <p:nvSpPr>
          <p:cNvPr id="21" name="Text 17"/>
          <p:cNvSpPr/>
          <p:nvPr/>
        </p:nvSpPr>
        <p:spPr>
          <a:xfrm>
            <a:off x="8089940" y="6434257"/>
            <a:ext cx="2999661" cy="374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23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Visual Storytelling</a:t>
            </a:r>
            <a:endParaRPr lang="en-US" sz="2350" dirty="0"/>
          </a:p>
        </p:txBody>
      </p:sp>
      <p:sp>
        <p:nvSpPr>
          <p:cNvPr id="22" name="Text 18"/>
          <p:cNvSpPr/>
          <p:nvPr/>
        </p:nvSpPr>
        <p:spPr>
          <a:xfrm>
            <a:off x="8089940" y="6928961"/>
            <a:ext cx="5549503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5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Extensive image galleries, virtual previews, and multimedia content that bring heritage sites to life before visitors arrive.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76632" y="534710"/>
            <a:ext cx="897136" cy="363141"/>
          </a:xfrm>
          <a:prstGeom prst="roundRect">
            <a:avLst>
              <a:gd name="adj" fmla="val 17890"/>
            </a:avLst>
          </a:prstGeom>
          <a:noFill/>
          <a:ln w="7620">
            <a:solidFill>
              <a:srgbClr val="95CCDA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800219" y="600313"/>
            <a:ext cx="649962" cy="2319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95CCD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EXPLORE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76632" y="975122"/>
            <a:ext cx="5489615" cy="6042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50"/>
              </a:lnSpc>
              <a:buNone/>
            </a:pPr>
            <a:r>
              <a:rPr lang="en-US" sz="38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Discover Heritage Places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676632" y="2062520"/>
            <a:ext cx="2420064" cy="3625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2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Intuitive Browsing</a:t>
            </a:r>
            <a:endParaRPr lang="en-US" sz="2250" dirty="0"/>
          </a:p>
        </p:txBody>
      </p:sp>
      <p:sp>
        <p:nvSpPr>
          <p:cNvPr id="7" name="Text 4"/>
          <p:cNvSpPr/>
          <p:nvPr/>
        </p:nvSpPr>
        <p:spPr>
          <a:xfrm>
            <a:off x="676632" y="2618303"/>
            <a:ext cx="2420064" cy="14501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Our explore page presents destinations through an engaging card-based layout, making discovery effortless and enjoyable.</a:t>
            </a:r>
            <a:endParaRPr lang="en-US" sz="15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576042" y="2168723"/>
            <a:ext cx="193238" cy="193238"/>
          </a:xfrm>
          <a:prstGeom prst="rect">
            <a:avLst/>
          </a:prstGeom>
        </p:spPr>
      </p:pic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76042" y="2392204"/>
            <a:ext cx="4898827" cy="2286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576042" y="2534483"/>
            <a:ext cx="2416850" cy="302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Visual Cards</a:t>
            </a:r>
            <a:endParaRPr lang="en-US" sz="1900" dirty="0"/>
          </a:p>
        </p:txBody>
      </p:sp>
      <p:sp>
        <p:nvSpPr>
          <p:cNvPr id="11" name="Text 6"/>
          <p:cNvSpPr/>
          <p:nvPr/>
        </p:nvSpPr>
        <p:spPr>
          <a:xfrm>
            <a:off x="3576042" y="3029783"/>
            <a:ext cx="4898827" cy="5800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Each destination features high-quality imagery, name, location, and compelling descriptions</a:t>
            </a:r>
            <a:endParaRPr lang="en-US" sz="15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576042" y="3991451"/>
            <a:ext cx="193238" cy="193238"/>
          </a:xfrm>
          <a:prstGeom prst="rect">
            <a:avLst/>
          </a:prstGeom>
        </p:spPr>
      </p:pic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76042" y="4234220"/>
            <a:ext cx="4898827" cy="2286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3576042" y="4395788"/>
            <a:ext cx="2416850" cy="302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Smart Filters</a:t>
            </a:r>
            <a:endParaRPr lang="en-US" sz="1900" dirty="0"/>
          </a:p>
        </p:txBody>
      </p:sp>
      <p:sp>
        <p:nvSpPr>
          <p:cNvPr id="15" name="Text 8"/>
          <p:cNvSpPr/>
          <p:nvPr/>
        </p:nvSpPr>
        <p:spPr>
          <a:xfrm>
            <a:off x="3576042" y="4891088"/>
            <a:ext cx="4898827" cy="5800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Refine results by state, heritage type, popularity, and seasonal recommendations</a:t>
            </a:r>
            <a:endParaRPr lang="en-US" sz="1500" dirty="0"/>
          </a:p>
        </p:txBody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576042" y="5814179"/>
            <a:ext cx="193238" cy="193238"/>
          </a:xfrm>
          <a:prstGeom prst="rect">
            <a:avLst/>
          </a:prstGeom>
        </p:spPr>
      </p:pic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76042" y="6076236"/>
            <a:ext cx="4898827" cy="22860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3576042" y="6257092"/>
            <a:ext cx="2416850" cy="3020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19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Quick Overview</a:t>
            </a:r>
            <a:endParaRPr lang="en-US" sz="1900" dirty="0"/>
          </a:p>
        </p:txBody>
      </p:sp>
      <p:sp>
        <p:nvSpPr>
          <p:cNvPr id="19" name="Text 10"/>
          <p:cNvSpPr/>
          <p:nvPr/>
        </p:nvSpPr>
        <p:spPr>
          <a:xfrm>
            <a:off x="3576042" y="6752392"/>
            <a:ext cx="4898827" cy="5800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Ratings, visitor reviews, and key highlights visible at a glance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2692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Place Detail Page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189327"/>
            <a:ext cx="13042821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Each heritage site receives a comprehensive, beautifully designed profile page: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4011454"/>
            <a:ext cx="293489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Rich Historical Context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4501872"/>
            <a:ext cx="3048000" cy="1700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Detailed narratives covering construction, dynasties, architectural significance, and cultural importance across centuries.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4125278" y="401145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Immersive Gallery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125278" y="4501872"/>
            <a:ext cx="3048119" cy="1700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Extensive photo collections showcasing architecture, intricate details, surrounding landscapes, and seasonal variations.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456884" y="401145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Planning Information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456884" y="4501872"/>
            <a:ext cx="3048119" cy="1700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Optimal visiting seasons, weather patterns, crowd levels, entry fees, operating hours, and accessibility details.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10788491" y="401145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Interactive Maps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0788491" y="4501872"/>
            <a:ext cx="3048119" cy="13606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Embedded Google Maps with directions, nearby attractions, facilities, parking, and public transport options.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30222" y="398621"/>
            <a:ext cx="1317308" cy="260866"/>
          </a:xfrm>
          <a:prstGeom prst="roundRect">
            <a:avLst>
              <a:gd name="adj" fmla="val 18674"/>
            </a:avLst>
          </a:prstGeom>
          <a:solidFill>
            <a:srgbClr val="C3643D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17138" y="471011"/>
            <a:ext cx="115967" cy="11596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991088" y="442079"/>
            <a:ext cx="969526" cy="1739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BOOKING SYSTEM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2730222" y="717471"/>
            <a:ext cx="3727490" cy="4530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8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Seamless Trip Booking</a:t>
            </a:r>
            <a:endParaRPr lang="en-US" sz="2850" dirty="0"/>
          </a:p>
        </p:txBody>
      </p:sp>
      <p:sp>
        <p:nvSpPr>
          <p:cNvPr id="6" name="Text 3"/>
          <p:cNvSpPr/>
          <p:nvPr/>
        </p:nvSpPr>
        <p:spPr>
          <a:xfrm>
            <a:off x="2730222" y="1532811"/>
            <a:ext cx="3254573" cy="271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7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Comprehensive Booking Options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2730222" y="1949529"/>
            <a:ext cx="4408170" cy="435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Transform your heritage exploration into reality with our integrated booking system that handles every aspect of your journey.</a:t>
            </a:r>
            <a:endParaRPr lang="en-US" sz="11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30222" y="2624614"/>
            <a:ext cx="72390" cy="7239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947511" y="2547580"/>
            <a:ext cx="2027753" cy="2264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Curated Travel Packages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2947511" y="2918936"/>
            <a:ext cx="4190881" cy="435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Pre-designed itineraries combining multiple heritage sites with optimal routing and timing</a:t>
            </a:r>
            <a:endParaRPr lang="en-US" sz="11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30222" y="3720941"/>
            <a:ext cx="72390" cy="7239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2947511" y="3643908"/>
            <a:ext cx="2176820" cy="2264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Accommodation Selection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2947511" y="4015264"/>
            <a:ext cx="4190881" cy="435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Partnered hotels ranging from budget to luxury, all verified and located conveniently near attractions</a:t>
            </a:r>
            <a:endParaRPr lang="en-US" sz="11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30222" y="4817269"/>
            <a:ext cx="72390" cy="7239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2947511" y="4740235"/>
            <a:ext cx="1812250" cy="2264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Expert Local Guides</a:t>
            </a:r>
            <a:endParaRPr lang="en-US" sz="1400" dirty="0"/>
          </a:p>
        </p:txBody>
      </p:sp>
      <p:sp>
        <p:nvSpPr>
          <p:cNvPr id="16" name="Text 10"/>
          <p:cNvSpPr/>
          <p:nvPr/>
        </p:nvSpPr>
        <p:spPr>
          <a:xfrm>
            <a:off x="2947511" y="5111591"/>
            <a:ext cx="4190881" cy="435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Certified, knowledgeable guides who bring history to life with authentic stories and cultural insights</a:t>
            </a:r>
            <a:endParaRPr lang="en-US" sz="11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9628" y="1550908"/>
            <a:ext cx="4408170" cy="440817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7499628" y="6122075"/>
            <a:ext cx="1812250" cy="2264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Simple Booking Form</a:t>
            </a:r>
            <a:endParaRPr lang="en-US" sz="1400" dirty="0"/>
          </a:p>
        </p:txBody>
      </p:sp>
      <p:sp>
        <p:nvSpPr>
          <p:cNvPr id="19" name="Text 12"/>
          <p:cNvSpPr/>
          <p:nvPr/>
        </p:nvSpPr>
        <p:spPr>
          <a:xfrm>
            <a:off x="7499628" y="6493431"/>
            <a:ext cx="4408170" cy="2175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Select travel dates with calendar integration</a:t>
            </a:r>
            <a:endParaRPr lang="en-US" sz="1100" dirty="0"/>
          </a:p>
        </p:txBody>
      </p:sp>
      <p:sp>
        <p:nvSpPr>
          <p:cNvPr id="20" name="Text 13"/>
          <p:cNvSpPr/>
          <p:nvPr/>
        </p:nvSpPr>
        <p:spPr>
          <a:xfrm>
            <a:off x="7499628" y="6761678"/>
            <a:ext cx="4408170" cy="2175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Specify number of travellers and requirements</a:t>
            </a:r>
            <a:endParaRPr lang="en-US" sz="1100" dirty="0"/>
          </a:p>
        </p:txBody>
      </p:sp>
      <p:sp>
        <p:nvSpPr>
          <p:cNvPr id="21" name="Text 14"/>
          <p:cNvSpPr/>
          <p:nvPr/>
        </p:nvSpPr>
        <p:spPr>
          <a:xfrm>
            <a:off x="7499628" y="7029926"/>
            <a:ext cx="4408170" cy="2175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Choose accommodation type and preferences</a:t>
            </a:r>
            <a:endParaRPr lang="en-US" sz="1100" dirty="0"/>
          </a:p>
        </p:txBody>
      </p:sp>
      <p:sp>
        <p:nvSpPr>
          <p:cNvPr id="22" name="Text 15"/>
          <p:cNvSpPr/>
          <p:nvPr/>
        </p:nvSpPr>
        <p:spPr>
          <a:xfrm>
            <a:off x="7499628" y="7298174"/>
            <a:ext cx="4408170" cy="2175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Add guided tour options</a:t>
            </a:r>
            <a:endParaRPr lang="en-US" sz="1100" dirty="0"/>
          </a:p>
        </p:txBody>
      </p:sp>
      <p:sp>
        <p:nvSpPr>
          <p:cNvPr id="23" name="Text 16"/>
          <p:cNvSpPr/>
          <p:nvPr/>
        </p:nvSpPr>
        <p:spPr>
          <a:xfrm>
            <a:off x="7499628" y="7566422"/>
            <a:ext cx="4408170" cy="2175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700"/>
              </a:lnSpc>
              <a:buSzPct val="100000"/>
              <a:buChar char="•"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Receive instant booking confirmation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54911" y="831771"/>
            <a:ext cx="3243739" cy="4054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5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User Features</a:t>
            </a:r>
            <a:endParaRPr lang="en-US" sz="2550" dirty="0"/>
          </a:p>
        </p:txBody>
      </p:sp>
      <p:sp>
        <p:nvSpPr>
          <p:cNvPr id="4" name="Text 1"/>
          <p:cNvSpPr/>
          <p:nvPr/>
        </p:nvSpPr>
        <p:spPr>
          <a:xfrm>
            <a:off x="5954911" y="1431727"/>
            <a:ext cx="8206859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Personalised experiences designed around your travel preferences and needs:</a:t>
            </a:r>
            <a:endParaRPr lang="en-US" sz="1000" dirty="0"/>
          </a:p>
        </p:txBody>
      </p:sp>
      <p:sp>
        <p:nvSpPr>
          <p:cNvPr id="5" name="Shape 2"/>
          <p:cNvSpPr/>
          <p:nvPr/>
        </p:nvSpPr>
        <p:spPr>
          <a:xfrm>
            <a:off x="5954911" y="1772364"/>
            <a:ext cx="8206859" cy="1309092"/>
          </a:xfrm>
          <a:prstGeom prst="roundRect">
            <a:avLst>
              <a:gd name="adj" fmla="val 4163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2190" y="1909643"/>
            <a:ext cx="389215" cy="389215"/>
          </a:xfrm>
          <a:prstGeom prst="rect">
            <a:avLst/>
          </a:prstGeom>
        </p:spPr>
      </p:pic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99227" y="2016681"/>
            <a:ext cx="175141" cy="175141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092190" y="2428518"/>
            <a:ext cx="1946196" cy="243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User Accounts</a:t>
            </a:r>
            <a:endParaRPr lang="en-US" sz="1500" dirty="0"/>
          </a:p>
        </p:txBody>
      </p:sp>
      <p:sp>
        <p:nvSpPr>
          <p:cNvPr id="9" name="Text 4"/>
          <p:cNvSpPr/>
          <p:nvPr/>
        </p:nvSpPr>
        <p:spPr>
          <a:xfrm>
            <a:off x="6092190" y="2749510"/>
            <a:ext cx="7932301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Secure registration and login system with profile customisation, travel preferences, and personal information management.</a:t>
            </a:r>
            <a:endParaRPr lang="en-US" sz="1000" dirty="0"/>
          </a:p>
        </p:txBody>
      </p:sp>
      <p:sp>
        <p:nvSpPr>
          <p:cNvPr id="10" name="Shape 5"/>
          <p:cNvSpPr/>
          <p:nvPr/>
        </p:nvSpPr>
        <p:spPr>
          <a:xfrm>
            <a:off x="5954911" y="3211116"/>
            <a:ext cx="8206859" cy="1309092"/>
          </a:xfrm>
          <a:prstGeom prst="roundRect">
            <a:avLst>
              <a:gd name="adj" fmla="val 4163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2190" y="3348395"/>
            <a:ext cx="389215" cy="389215"/>
          </a:xfrm>
          <a:prstGeom prst="rect">
            <a:avLst/>
          </a:prstGeom>
        </p:spPr>
      </p:pic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199227" y="3455432"/>
            <a:ext cx="175141" cy="175141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6092190" y="3867269"/>
            <a:ext cx="1946196" cy="243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Save Favourites</a:t>
            </a:r>
            <a:endParaRPr lang="en-US" sz="1500" dirty="0"/>
          </a:p>
        </p:txBody>
      </p:sp>
      <p:sp>
        <p:nvSpPr>
          <p:cNvPr id="14" name="Text 7"/>
          <p:cNvSpPr/>
          <p:nvPr/>
        </p:nvSpPr>
        <p:spPr>
          <a:xfrm>
            <a:off x="6092190" y="4188262"/>
            <a:ext cx="7932301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Create personalised wish lists of heritage sites, build custom itineraries, and save preferred hotels and guides for future reference.</a:t>
            </a:r>
            <a:endParaRPr lang="en-US" sz="1000" dirty="0"/>
          </a:p>
        </p:txBody>
      </p:sp>
      <p:sp>
        <p:nvSpPr>
          <p:cNvPr id="15" name="Shape 8"/>
          <p:cNvSpPr/>
          <p:nvPr/>
        </p:nvSpPr>
        <p:spPr>
          <a:xfrm>
            <a:off x="5954911" y="4649867"/>
            <a:ext cx="8206859" cy="1309092"/>
          </a:xfrm>
          <a:prstGeom prst="roundRect">
            <a:avLst>
              <a:gd name="adj" fmla="val 4163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pic>
        <p:nvPicPr>
          <p:cNvPr id="16" name="Image 5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092190" y="4787146"/>
            <a:ext cx="389215" cy="389215"/>
          </a:xfrm>
          <a:prstGeom prst="rect">
            <a:avLst/>
          </a:prstGeom>
        </p:spPr>
      </p:pic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199227" y="4894183"/>
            <a:ext cx="175141" cy="175141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6092190" y="5306020"/>
            <a:ext cx="1946196" cy="243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Booking History</a:t>
            </a:r>
            <a:endParaRPr lang="en-US" sz="1500" dirty="0"/>
          </a:p>
        </p:txBody>
      </p:sp>
      <p:sp>
        <p:nvSpPr>
          <p:cNvPr id="19" name="Text 10"/>
          <p:cNvSpPr/>
          <p:nvPr/>
        </p:nvSpPr>
        <p:spPr>
          <a:xfrm>
            <a:off x="6092190" y="5627013"/>
            <a:ext cx="7932301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Access complete records of past and upcoming trips, download booking confirmations, and track your heritage exploration journey.</a:t>
            </a:r>
            <a:endParaRPr lang="en-US" sz="1000" dirty="0"/>
          </a:p>
        </p:txBody>
      </p:sp>
      <p:sp>
        <p:nvSpPr>
          <p:cNvPr id="20" name="Shape 11"/>
          <p:cNvSpPr/>
          <p:nvPr/>
        </p:nvSpPr>
        <p:spPr>
          <a:xfrm>
            <a:off x="5954911" y="6088618"/>
            <a:ext cx="8206859" cy="1309092"/>
          </a:xfrm>
          <a:prstGeom prst="roundRect">
            <a:avLst>
              <a:gd name="adj" fmla="val 4163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pic>
        <p:nvPicPr>
          <p:cNvPr id="21" name="Image 7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092190" y="6225897"/>
            <a:ext cx="389215" cy="389215"/>
          </a:xfrm>
          <a:prstGeom prst="rect">
            <a:avLst/>
          </a:prstGeom>
        </p:spPr>
      </p:pic>
      <p:pic>
        <p:nvPicPr>
          <p:cNvPr id="22" name="Image 8" descr="preencoded.png"/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199227" y="6332934"/>
            <a:ext cx="175141" cy="175141"/>
          </a:xfrm>
          <a:prstGeom prst="rect">
            <a:avLst/>
          </a:prstGeom>
        </p:spPr>
      </p:pic>
      <p:sp>
        <p:nvSpPr>
          <p:cNvPr id="23" name="Text 12"/>
          <p:cNvSpPr/>
          <p:nvPr/>
        </p:nvSpPr>
        <p:spPr>
          <a:xfrm>
            <a:off x="6092190" y="6744772"/>
            <a:ext cx="1946196" cy="2432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Reviews &amp; Ratings</a:t>
            </a:r>
            <a:endParaRPr lang="en-US" sz="1500" dirty="0"/>
          </a:p>
        </p:txBody>
      </p:sp>
      <p:sp>
        <p:nvSpPr>
          <p:cNvPr id="24" name="Text 13"/>
          <p:cNvSpPr/>
          <p:nvPr/>
        </p:nvSpPr>
        <p:spPr>
          <a:xfrm>
            <a:off x="6092190" y="7065764"/>
            <a:ext cx="7932301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Share your experiences through detailed reviews, rate destinations and services, and help fellow travellers make informed decisions.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84070" y="576620"/>
            <a:ext cx="872966" cy="312658"/>
          </a:xfrm>
          <a:prstGeom prst="roundRect">
            <a:avLst>
              <a:gd name="adj" fmla="val 17776"/>
            </a:avLst>
          </a:prstGeom>
          <a:noFill/>
          <a:ln w="7620">
            <a:solidFill>
              <a:srgbClr val="95CCDA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90869" y="666750"/>
            <a:ext cx="132278" cy="13227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389227" y="633770"/>
            <a:ext cx="461010" cy="198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000" dirty="0">
                <a:solidFill>
                  <a:srgbClr val="95CCD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DESIGN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2084070" y="955358"/>
            <a:ext cx="4461748" cy="516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50"/>
              </a:lnSpc>
              <a:buNone/>
            </a:pPr>
            <a:r>
              <a:rPr lang="en-US" sz="32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Design &amp; User Interface</a:t>
            </a:r>
            <a:endParaRPr lang="en-US" sz="325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84070" y="1906191"/>
            <a:ext cx="3942874" cy="394287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37948" y="1885593"/>
            <a:ext cx="3950018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Culturally Rich, Technically Modern</a:t>
            </a:r>
            <a:endParaRPr lang="en-US" sz="1950" dirty="0"/>
          </a:p>
        </p:txBody>
      </p:sp>
      <p:sp>
        <p:nvSpPr>
          <p:cNvPr id="8" name="Text 4"/>
          <p:cNvSpPr/>
          <p:nvPr/>
        </p:nvSpPr>
        <p:spPr>
          <a:xfrm>
            <a:off x="6437948" y="2361128"/>
            <a:ext cx="6116003" cy="496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Our design philosophy balances traditional Indian aesthetics with contemporary web design principles:</a:t>
            </a:r>
            <a:endParaRPr lang="en-US" sz="13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99979" y="3048179"/>
            <a:ext cx="248007" cy="248007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975396" y="3043118"/>
            <a:ext cx="2067639" cy="258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Indian Cultural Theme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6975396" y="3466981"/>
            <a:ext cx="5578554" cy="496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Colour palette inspired by Indian heritage: saffron, peacock blue, sandstone, and terracotta</a:t>
            </a:r>
            <a:endParaRPr lang="en-US" sz="13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99979" y="4298811"/>
            <a:ext cx="248007" cy="24800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975396" y="4293751"/>
            <a:ext cx="2067639" cy="258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Modern Clean Layout</a:t>
            </a:r>
            <a:endParaRPr lang="en-US" sz="1600" dirty="0"/>
          </a:p>
        </p:txBody>
      </p:sp>
      <p:sp>
        <p:nvSpPr>
          <p:cNvPr id="14" name="Text 8"/>
          <p:cNvSpPr/>
          <p:nvPr/>
        </p:nvSpPr>
        <p:spPr>
          <a:xfrm>
            <a:off x="6975396" y="4717613"/>
            <a:ext cx="5578554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Uncluttered interfaces with generous white space and clear visual hierarchy</a:t>
            </a:r>
            <a:endParaRPr lang="en-US" sz="130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99979" y="5301436"/>
            <a:ext cx="248007" cy="248007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975396" y="5296376"/>
            <a:ext cx="2067639" cy="258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Fully Responsive</a:t>
            </a:r>
            <a:endParaRPr lang="en-US" sz="1600" dirty="0"/>
          </a:p>
        </p:txBody>
      </p:sp>
      <p:sp>
        <p:nvSpPr>
          <p:cNvPr id="17" name="Text 10"/>
          <p:cNvSpPr/>
          <p:nvPr/>
        </p:nvSpPr>
        <p:spPr>
          <a:xfrm>
            <a:off x="6975396" y="5720239"/>
            <a:ext cx="5578554" cy="496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Optimised for all devices—desktops, tablets, and smartphones with consistent experience</a:t>
            </a:r>
            <a:endParaRPr lang="en-US" sz="1300" dirty="0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99979" y="6552069"/>
            <a:ext cx="248007" cy="248007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6975396" y="6547009"/>
            <a:ext cx="2067639" cy="258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Smooth Interactions</a:t>
            </a:r>
            <a:endParaRPr lang="en-US" sz="1600" dirty="0"/>
          </a:p>
        </p:txBody>
      </p:sp>
      <p:sp>
        <p:nvSpPr>
          <p:cNvPr id="20" name="Text 12"/>
          <p:cNvSpPr/>
          <p:nvPr/>
        </p:nvSpPr>
        <p:spPr>
          <a:xfrm>
            <a:off x="6975396" y="6970871"/>
            <a:ext cx="5578554" cy="496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Fluid animations, seamless transitions, and intuitive navigation enhance user engagement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8320" y="578048"/>
            <a:ext cx="5112068" cy="6390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Technologies Used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7303651" y="1625918"/>
            <a:ext cx="22860" cy="6025515"/>
          </a:xfrm>
          <a:prstGeom prst="roundRect">
            <a:avLst>
              <a:gd name="adj" fmla="val 375696"/>
            </a:avLst>
          </a:prstGeom>
          <a:solidFill>
            <a:srgbClr val="BFD3D8"/>
          </a:solidFill>
          <a:ln/>
        </p:spPr>
      </p:sp>
      <p:sp>
        <p:nvSpPr>
          <p:cNvPr id="4" name="Shape 2"/>
          <p:cNvSpPr/>
          <p:nvPr/>
        </p:nvSpPr>
        <p:spPr>
          <a:xfrm>
            <a:off x="6494502" y="1844516"/>
            <a:ext cx="613410" cy="22860"/>
          </a:xfrm>
          <a:prstGeom prst="roundRect">
            <a:avLst>
              <a:gd name="adj" fmla="val 375696"/>
            </a:avLst>
          </a:prstGeom>
          <a:solidFill>
            <a:srgbClr val="BFD3D8"/>
          </a:solidFill>
          <a:ln/>
        </p:spPr>
      </p:sp>
      <p:sp>
        <p:nvSpPr>
          <p:cNvPr id="5" name="Shape 3"/>
          <p:cNvSpPr/>
          <p:nvPr/>
        </p:nvSpPr>
        <p:spPr>
          <a:xfrm>
            <a:off x="7085052" y="1625918"/>
            <a:ext cx="460058" cy="460057"/>
          </a:xfrm>
          <a:prstGeom prst="roundRect">
            <a:avLst>
              <a:gd name="adj" fmla="val 18668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61728" y="1664256"/>
            <a:ext cx="306705" cy="3833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3225403" y="1664256"/>
            <a:ext cx="3067288" cy="3833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3000"/>
              </a:lnSpc>
              <a:buNone/>
            </a:pPr>
            <a:r>
              <a:rPr lang="en-US" sz="24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Frontend Layer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848320" y="2170271"/>
            <a:ext cx="5444371" cy="3065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400"/>
              </a:lnSpc>
              <a:buNone/>
            </a:pPr>
            <a:r>
              <a:rPr lang="en-US" sz="1600" dirty="0">
                <a:solidFill>
                  <a:srgbClr val="384653"/>
                </a:solidFill>
                <a:highlight>
                  <a:srgbClr val="95CCDA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HTML5, CSS3, JavaScript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48320" y="2599492"/>
            <a:ext cx="5444371" cy="613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40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React framework for dynamic, component-based architecture ensuring fast, interactive user experiences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522250" y="3071217"/>
            <a:ext cx="613410" cy="22860"/>
          </a:xfrm>
          <a:prstGeom prst="roundRect">
            <a:avLst>
              <a:gd name="adj" fmla="val 375696"/>
            </a:avLst>
          </a:prstGeom>
          <a:solidFill>
            <a:srgbClr val="BFD3D8"/>
          </a:solidFill>
          <a:ln/>
        </p:spPr>
      </p:sp>
      <p:sp>
        <p:nvSpPr>
          <p:cNvPr id="11" name="Shape 9"/>
          <p:cNvSpPr/>
          <p:nvPr/>
        </p:nvSpPr>
        <p:spPr>
          <a:xfrm>
            <a:off x="7085052" y="2852618"/>
            <a:ext cx="460058" cy="460057"/>
          </a:xfrm>
          <a:prstGeom prst="roundRect">
            <a:avLst>
              <a:gd name="adj" fmla="val 18668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61728" y="2890957"/>
            <a:ext cx="306705" cy="3833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8337471" y="2890957"/>
            <a:ext cx="3067288" cy="3833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Backend Layer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337471" y="3396972"/>
            <a:ext cx="5444490" cy="3065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FFFFFF"/>
                </a:solidFill>
                <a:highlight>
                  <a:srgbClr val="C3643D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Node.js / Python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337471" y="3826193"/>
            <a:ext cx="5444490" cy="613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Flask or Django frameworks handling server logic, authentication, and database operations efficiently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4502" y="4112657"/>
            <a:ext cx="613410" cy="22860"/>
          </a:xfrm>
          <a:prstGeom prst="roundRect">
            <a:avLst>
              <a:gd name="adj" fmla="val 375696"/>
            </a:avLst>
          </a:prstGeom>
          <a:solidFill>
            <a:srgbClr val="BFD3D8"/>
          </a:solidFill>
          <a:ln/>
        </p:spPr>
      </p:sp>
      <p:sp>
        <p:nvSpPr>
          <p:cNvPr id="17" name="Shape 15"/>
          <p:cNvSpPr/>
          <p:nvPr/>
        </p:nvSpPr>
        <p:spPr>
          <a:xfrm>
            <a:off x="7085052" y="3894058"/>
            <a:ext cx="460058" cy="460057"/>
          </a:xfrm>
          <a:prstGeom prst="roundRect">
            <a:avLst>
              <a:gd name="adj" fmla="val 18668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61728" y="3932396"/>
            <a:ext cx="306705" cy="3833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3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3225403" y="3932396"/>
            <a:ext cx="3067288" cy="3833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3000"/>
              </a:lnSpc>
              <a:buNone/>
            </a:pPr>
            <a:r>
              <a:rPr lang="en-US" sz="24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Database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848320" y="4438412"/>
            <a:ext cx="5444371" cy="3065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400"/>
              </a:lnSpc>
              <a:buNone/>
            </a:pPr>
            <a:r>
              <a:rPr lang="en-US" sz="1600" dirty="0">
                <a:solidFill>
                  <a:srgbClr val="384653"/>
                </a:solidFill>
                <a:highlight>
                  <a:srgbClr val="64B8CE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MySQL / MongoDB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48320" y="4867632"/>
            <a:ext cx="5444371" cy="613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40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Robust data storage for user accounts, heritage site information, bookings, and reviews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522250" y="5154216"/>
            <a:ext cx="613410" cy="22860"/>
          </a:xfrm>
          <a:prstGeom prst="roundRect">
            <a:avLst>
              <a:gd name="adj" fmla="val 375696"/>
            </a:avLst>
          </a:prstGeom>
          <a:solidFill>
            <a:srgbClr val="BFD3D8"/>
          </a:solidFill>
          <a:ln/>
        </p:spPr>
      </p:sp>
      <p:sp>
        <p:nvSpPr>
          <p:cNvPr id="23" name="Shape 21"/>
          <p:cNvSpPr/>
          <p:nvPr/>
        </p:nvSpPr>
        <p:spPr>
          <a:xfrm>
            <a:off x="7085052" y="4935617"/>
            <a:ext cx="460058" cy="460057"/>
          </a:xfrm>
          <a:prstGeom prst="roundRect">
            <a:avLst>
              <a:gd name="adj" fmla="val 18668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61728" y="4973955"/>
            <a:ext cx="306705" cy="3833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4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8337471" y="4973955"/>
            <a:ext cx="3067288" cy="3833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Integration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8337471" y="5479971"/>
            <a:ext cx="5444490" cy="3065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384653"/>
                </a:solidFill>
                <a:highlight>
                  <a:srgbClr val="E9CFC9"/>
                </a:highlight>
                <a:latin typeface="Roboto" pitchFamily="34" charset="0"/>
                <a:ea typeface="Roboto" pitchFamily="34" charset="-122"/>
                <a:cs typeface="Roboto" pitchFamily="34" charset="-120"/>
              </a:rPr>
              <a:t>Google Maps API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337471" y="5909191"/>
            <a:ext cx="5444490" cy="613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Location services, interactive maps, and directions for seamless navigation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6494502" y="6195774"/>
            <a:ext cx="613410" cy="22860"/>
          </a:xfrm>
          <a:prstGeom prst="roundRect">
            <a:avLst>
              <a:gd name="adj" fmla="val 375696"/>
            </a:avLst>
          </a:prstGeom>
          <a:solidFill>
            <a:srgbClr val="BFD3D8"/>
          </a:solidFill>
          <a:ln/>
        </p:spPr>
      </p:sp>
      <p:sp>
        <p:nvSpPr>
          <p:cNvPr id="29" name="Shape 27"/>
          <p:cNvSpPr/>
          <p:nvPr/>
        </p:nvSpPr>
        <p:spPr>
          <a:xfrm>
            <a:off x="7085052" y="5977176"/>
            <a:ext cx="460058" cy="460057"/>
          </a:xfrm>
          <a:prstGeom prst="roundRect">
            <a:avLst>
              <a:gd name="adj" fmla="val 18668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61728" y="6015514"/>
            <a:ext cx="306705" cy="3833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24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5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3225403" y="6015514"/>
            <a:ext cx="3067288" cy="3833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3000"/>
              </a:lnSpc>
              <a:buNone/>
            </a:pPr>
            <a:r>
              <a:rPr lang="en-US" sz="24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Deployment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848320" y="6521529"/>
            <a:ext cx="5444371" cy="3065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40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GitHub Pages / Cloud Hosting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48320" y="6950750"/>
            <a:ext cx="5444371" cy="6131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400"/>
              </a:lnSpc>
              <a:buNone/>
            </a:pPr>
            <a:r>
              <a:rPr lang="en-US" sz="16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Reliable hosting with continuous deployment and scalable infrastructure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2955" y="616863"/>
            <a:ext cx="2365653" cy="402431"/>
          </a:xfrm>
          <a:prstGeom prst="roundRect">
            <a:avLst>
              <a:gd name="adj" fmla="val 18679"/>
            </a:avLst>
          </a:prstGeom>
          <a:solidFill>
            <a:srgbClr val="64B8CE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7138" y="728543"/>
            <a:ext cx="178951" cy="1789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5505" y="683895"/>
            <a:ext cx="1828919" cy="2683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ENHANCED FEATURES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782955" y="1108710"/>
            <a:ext cx="5592961" cy="6991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Additional Features</a:t>
            </a:r>
            <a:endParaRPr lang="en-US" sz="44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82955" y="2143363"/>
            <a:ext cx="671155" cy="67115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82955" y="3094077"/>
            <a:ext cx="3355777" cy="4194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Festival Calendar</a:t>
            </a:r>
            <a:endParaRPr lang="en-US" sz="2600" dirty="0"/>
          </a:p>
        </p:txBody>
      </p:sp>
      <p:sp>
        <p:nvSpPr>
          <p:cNvPr id="8" name="Text 4"/>
          <p:cNvSpPr/>
          <p:nvPr/>
        </p:nvSpPr>
        <p:spPr>
          <a:xfrm>
            <a:off x="782955" y="3647718"/>
            <a:ext cx="6392466" cy="1006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Discover cultural festivals, local celebrations, and auspicious dates aligned with heritage sites. Plan visits around vibrant festivities for enriched experiences.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54979" y="2143363"/>
            <a:ext cx="671155" cy="67115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454979" y="3094077"/>
            <a:ext cx="3735705" cy="4194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Multi-Language Support</a:t>
            </a:r>
            <a:endParaRPr lang="en-US" sz="2600" dirty="0"/>
          </a:p>
        </p:txBody>
      </p:sp>
      <p:sp>
        <p:nvSpPr>
          <p:cNvPr id="11" name="Text 6"/>
          <p:cNvSpPr/>
          <p:nvPr/>
        </p:nvSpPr>
        <p:spPr>
          <a:xfrm>
            <a:off x="7454979" y="3647718"/>
            <a:ext cx="6392466" cy="1006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Interface available in English, Hindi, Telugu, and more regional languages, ensuring accessibility for domestic and international tourists alike.</a:t>
            </a:r>
            <a:endParaRPr lang="en-US" sz="17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82955" y="5101709"/>
            <a:ext cx="671155" cy="67115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82955" y="6052423"/>
            <a:ext cx="3355777" cy="4194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AI Travel Assistant</a:t>
            </a:r>
            <a:endParaRPr lang="en-US" sz="2600" dirty="0"/>
          </a:p>
        </p:txBody>
      </p:sp>
      <p:sp>
        <p:nvSpPr>
          <p:cNvPr id="14" name="Text 8"/>
          <p:cNvSpPr/>
          <p:nvPr/>
        </p:nvSpPr>
        <p:spPr>
          <a:xfrm>
            <a:off x="782955" y="6606064"/>
            <a:ext cx="6392466" cy="1006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Intelligent chatbot providing instant answers to tourist queries, personalised recommendations, and 24/7 support throughout your journey.</a:t>
            </a:r>
            <a:endParaRPr lang="en-US" sz="17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454979" y="5101709"/>
            <a:ext cx="671155" cy="671155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7454979" y="6052423"/>
            <a:ext cx="3355777" cy="4194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Social Sharing</a:t>
            </a:r>
            <a:endParaRPr lang="en-US" sz="2600" dirty="0"/>
          </a:p>
        </p:txBody>
      </p:sp>
      <p:sp>
        <p:nvSpPr>
          <p:cNvPr id="17" name="Text 10"/>
          <p:cNvSpPr/>
          <p:nvPr/>
        </p:nvSpPr>
        <p:spPr>
          <a:xfrm>
            <a:off x="7454979" y="6606064"/>
            <a:ext cx="6392466" cy="10065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Share favourite destinations, trip itineraries, and travel experiences directly to social media platforms, inspiring others to explore India's heritage.</a:t>
            </a:r>
            <a:endParaRPr lang="en-US" sz="1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616" y="778312"/>
            <a:ext cx="5247918" cy="6560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50"/>
              </a:lnSpc>
              <a:buNone/>
            </a:pPr>
            <a:r>
              <a:rPr lang="en-US" sz="41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Key Advantages</a:t>
            </a:r>
            <a:endParaRPr lang="en-US" sz="4100" dirty="0"/>
          </a:p>
        </p:txBody>
      </p:sp>
      <p:sp>
        <p:nvSpPr>
          <p:cNvPr id="3" name="Shape 1"/>
          <p:cNvSpPr/>
          <p:nvPr/>
        </p:nvSpPr>
        <p:spPr>
          <a:xfrm>
            <a:off x="734616" y="2168962"/>
            <a:ext cx="4247078" cy="2536150"/>
          </a:xfrm>
          <a:prstGeom prst="roundRect">
            <a:avLst>
              <a:gd name="adj" fmla="val 4327"/>
            </a:avLst>
          </a:prstGeom>
          <a:solidFill>
            <a:srgbClr val="FAF9F5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616" y="2146102"/>
            <a:ext cx="4247078" cy="91440"/>
          </a:xfrm>
          <a:prstGeom prst="rect">
            <a:avLst/>
          </a:prstGeom>
        </p:spPr>
      </p:pic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43235" y="1854160"/>
            <a:ext cx="629722" cy="62972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732187" y="2011561"/>
            <a:ext cx="251817" cy="3148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1</a:t>
            </a:r>
            <a:endParaRPr lang="en-US" sz="1950" dirty="0"/>
          </a:p>
        </p:txBody>
      </p:sp>
      <p:sp>
        <p:nvSpPr>
          <p:cNvPr id="7" name="Text 3"/>
          <p:cNvSpPr/>
          <p:nvPr/>
        </p:nvSpPr>
        <p:spPr>
          <a:xfrm>
            <a:off x="967383" y="2693670"/>
            <a:ext cx="3148727" cy="393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Unified Tourism Hub</a:t>
            </a:r>
            <a:endParaRPr lang="en-US" sz="2450" dirty="0"/>
          </a:p>
        </p:txBody>
      </p:sp>
      <p:sp>
        <p:nvSpPr>
          <p:cNvPr id="8" name="Text 4"/>
          <p:cNvSpPr/>
          <p:nvPr/>
        </p:nvSpPr>
        <p:spPr>
          <a:xfrm>
            <a:off x="967383" y="3213140"/>
            <a:ext cx="3781544" cy="1259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All heritage exploration and booking needs addressed through a single, comprehensive platform—no more juggling multiple websites.</a:t>
            </a:r>
            <a:endParaRPr lang="en-US" sz="1650" dirty="0"/>
          </a:p>
        </p:txBody>
      </p:sp>
      <p:sp>
        <p:nvSpPr>
          <p:cNvPr id="9" name="Shape 5"/>
          <p:cNvSpPr/>
          <p:nvPr/>
        </p:nvSpPr>
        <p:spPr>
          <a:xfrm>
            <a:off x="5191601" y="2168962"/>
            <a:ext cx="4247078" cy="2536150"/>
          </a:xfrm>
          <a:prstGeom prst="roundRect">
            <a:avLst>
              <a:gd name="adj" fmla="val 4327"/>
            </a:avLst>
          </a:prstGeom>
          <a:solidFill>
            <a:srgbClr val="FAF9F5"/>
          </a:solidFill>
          <a:ln/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1601" y="2146102"/>
            <a:ext cx="4247078" cy="91440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0220" y="1854160"/>
            <a:ext cx="629722" cy="62972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7189172" y="2011561"/>
            <a:ext cx="251817" cy="3148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2</a:t>
            </a:r>
            <a:endParaRPr lang="en-US" sz="1950" dirty="0"/>
          </a:p>
        </p:txBody>
      </p:sp>
      <p:sp>
        <p:nvSpPr>
          <p:cNvPr id="13" name="Text 7"/>
          <p:cNvSpPr/>
          <p:nvPr/>
        </p:nvSpPr>
        <p:spPr>
          <a:xfrm>
            <a:off x="5424368" y="2693670"/>
            <a:ext cx="3148727" cy="393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Time &amp; Effort Savings</a:t>
            </a:r>
            <a:endParaRPr lang="en-US" sz="2450" dirty="0"/>
          </a:p>
        </p:txBody>
      </p:sp>
      <p:sp>
        <p:nvSpPr>
          <p:cNvPr id="14" name="Text 8"/>
          <p:cNvSpPr/>
          <p:nvPr/>
        </p:nvSpPr>
        <p:spPr>
          <a:xfrm>
            <a:off x="5424368" y="3213140"/>
            <a:ext cx="3781544" cy="1259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Streamlined planning process reduces trip preparation from days to hours with integrated tools and curated information.</a:t>
            </a:r>
            <a:endParaRPr lang="en-US" sz="1650" dirty="0"/>
          </a:p>
        </p:txBody>
      </p:sp>
      <p:sp>
        <p:nvSpPr>
          <p:cNvPr id="15" name="Shape 9"/>
          <p:cNvSpPr/>
          <p:nvPr/>
        </p:nvSpPr>
        <p:spPr>
          <a:xfrm>
            <a:off x="9648587" y="2168962"/>
            <a:ext cx="4247198" cy="2536150"/>
          </a:xfrm>
          <a:prstGeom prst="roundRect">
            <a:avLst>
              <a:gd name="adj" fmla="val 4327"/>
            </a:avLst>
          </a:prstGeom>
          <a:solidFill>
            <a:srgbClr val="FAF9F5"/>
          </a:solidFill>
          <a:ln/>
        </p:spPr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48587" y="2146102"/>
            <a:ext cx="4247198" cy="91440"/>
          </a:xfrm>
          <a:prstGeom prst="rect">
            <a:avLst/>
          </a:prstGeom>
        </p:spPr>
      </p:pic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57325" y="1854160"/>
            <a:ext cx="629722" cy="629722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11646277" y="2011561"/>
            <a:ext cx="251817" cy="3148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3</a:t>
            </a:r>
            <a:endParaRPr lang="en-US" sz="1950" dirty="0"/>
          </a:p>
        </p:txBody>
      </p:sp>
      <p:sp>
        <p:nvSpPr>
          <p:cNvPr id="19" name="Text 11"/>
          <p:cNvSpPr/>
          <p:nvPr/>
        </p:nvSpPr>
        <p:spPr>
          <a:xfrm>
            <a:off x="9881354" y="2693670"/>
            <a:ext cx="3664029" cy="393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Global Cultural Promotion</a:t>
            </a:r>
            <a:endParaRPr lang="en-US" sz="2450" dirty="0"/>
          </a:p>
        </p:txBody>
      </p:sp>
      <p:sp>
        <p:nvSpPr>
          <p:cNvPr id="20" name="Text 12"/>
          <p:cNvSpPr/>
          <p:nvPr/>
        </p:nvSpPr>
        <p:spPr>
          <a:xfrm>
            <a:off x="9881354" y="3213140"/>
            <a:ext cx="3781663" cy="1259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Digital platform amplifies India's cultural heritage on the world stage, attracting international tourists and cultural enthusiasts.</a:t>
            </a:r>
            <a:endParaRPr lang="en-US" sz="1650" dirty="0"/>
          </a:p>
        </p:txBody>
      </p:sp>
      <p:sp>
        <p:nvSpPr>
          <p:cNvPr id="21" name="Shape 13"/>
          <p:cNvSpPr/>
          <p:nvPr/>
        </p:nvSpPr>
        <p:spPr>
          <a:xfrm>
            <a:off x="734616" y="5229820"/>
            <a:ext cx="6475571" cy="2221349"/>
          </a:xfrm>
          <a:prstGeom prst="roundRect">
            <a:avLst>
              <a:gd name="adj" fmla="val 4940"/>
            </a:avLst>
          </a:prstGeom>
          <a:solidFill>
            <a:srgbClr val="FAF9F5"/>
          </a:solidFill>
          <a:ln/>
        </p:spPr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616" y="5206960"/>
            <a:ext cx="6475571" cy="91440"/>
          </a:xfrm>
          <a:prstGeom prst="rect">
            <a:avLst/>
          </a:prstGeom>
        </p:spPr>
      </p:pic>
      <p:pic>
        <p:nvPicPr>
          <p:cNvPr id="23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540" y="4915019"/>
            <a:ext cx="629722" cy="629722"/>
          </a:xfrm>
          <a:prstGeom prst="rect">
            <a:avLst/>
          </a:prstGeom>
        </p:spPr>
      </p:pic>
      <p:sp>
        <p:nvSpPr>
          <p:cNvPr id="24" name="Text 14"/>
          <p:cNvSpPr/>
          <p:nvPr/>
        </p:nvSpPr>
        <p:spPr>
          <a:xfrm>
            <a:off x="3846493" y="5072420"/>
            <a:ext cx="251817" cy="3148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4</a:t>
            </a:r>
            <a:endParaRPr lang="en-US" sz="1950" dirty="0"/>
          </a:p>
        </p:txBody>
      </p:sp>
      <p:sp>
        <p:nvSpPr>
          <p:cNvPr id="25" name="Text 15"/>
          <p:cNvSpPr/>
          <p:nvPr/>
        </p:nvSpPr>
        <p:spPr>
          <a:xfrm>
            <a:off x="967383" y="5754529"/>
            <a:ext cx="3148727" cy="393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Economic Impact</a:t>
            </a:r>
            <a:endParaRPr lang="en-US" sz="2450" dirty="0"/>
          </a:p>
        </p:txBody>
      </p:sp>
      <p:sp>
        <p:nvSpPr>
          <p:cNvPr id="26" name="Text 16"/>
          <p:cNvSpPr/>
          <p:nvPr/>
        </p:nvSpPr>
        <p:spPr>
          <a:xfrm>
            <a:off x="967383" y="6273998"/>
            <a:ext cx="6010037" cy="944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Supports local tourism ecosystems, heritage site maintenance, and community livelihoods through increased visitor engagement.</a:t>
            </a:r>
            <a:endParaRPr lang="en-US" sz="1650" dirty="0"/>
          </a:p>
        </p:txBody>
      </p:sp>
      <p:sp>
        <p:nvSpPr>
          <p:cNvPr id="27" name="Shape 17"/>
          <p:cNvSpPr/>
          <p:nvPr/>
        </p:nvSpPr>
        <p:spPr>
          <a:xfrm>
            <a:off x="7420094" y="5229820"/>
            <a:ext cx="6475690" cy="2221349"/>
          </a:xfrm>
          <a:prstGeom prst="roundRect">
            <a:avLst>
              <a:gd name="adj" fmla="val 4940"/>
            </a:avLst>
          </a:prstGeom>
          <a:solidFill>
            <a:srgbClr val="FAF9F5"/>
          </a:solidFill>
          <a:ln/>
        </p:spPr>
      </p:sp>
      <p:pic>
        <p:nvPicPr>
          <p:cNvPr id="28" name="Image 8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0094" y="5206960"/>
            <a:ext cx="6475690" cy="91440"/>
          </a:xfrm>
          <a:prstGeom prst="rect">
            <a:avLst/>
          </a:prstGeom>
        </p:spPr>
      </p:pic>
      <p:pic>
        <p:nvPicPr>
          <p:cNvPr id="29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43019" y="4915019"/>
            <a:ext cx="629722" cy="629722"/>
          </a:xfrm>
          <a:prstGeom prst="rect">
            <a:avLst/>
          </a:prstGeom>
        </p:spPr>
      </p:pic>
      <p:sp>
        <p:nvSpPr>
          <p:cNvPr id="30" name="Text 18"/>
          <p:cNvSpPr/>
          <p:nvPr/>
        </p:nvSpPr>
        <p:spPr>
          <a:xfrm>
            <a:off x="10531971" y="5072420"/>
            <a:ext cx="251817" cy="3148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5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5</a:t>
            </a:r>
            <a:endParaRPr lang="en-US" sz="1950" dirty="0"/>
          </a:p>
        </p:txBody>
      </p:sp>
      <p:sp>
        <p:nvSpPr>
          <p:cNvPr id="31" name="Text 19"/>
          <p:cNvSpPr/>
          <p:nvPr/>
        </p:nvSpPr>
        <p:spPr>
          <a:xfrm>
            <a:off x="7652861" y="5754529"/>
            <a:ext cx="3853815" cy="393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50"/>
              </a:lnSpc>
              <a:buNone/>
            </a:pPr>
            <a:r>
              <a:rPr lang="en-US" sz="24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Enhanced User Experience</a:t>
            </a:r>
            <a:endParaRPr lang="en-US" sz="2450" dirty="0"/>
          </a:p>
        </p:txBody>
      </p:sp>
      <p:sp>
        <p:nvSpPr>
          <p:cNvPr id="32" name="Text 20"/>
          <p:cNvSpPr/>
          <p:nvPr/>
        </p:nvSpPr>
        <p:spPr>
          <a:xfrm>
            <a:off x="7652861" y="6273998"/>
            <a:ext cx="6010156" cy="944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Intuitive design and comprehensive information empower tourists to make informed decisions and create memorable journeys.</a:t>
            </a:r>
            <a:endParaRPr lang="en-US" sz="16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02481" y="401122"/>
            <a:ext cx="1187648" cy="277654"/>
          </a:xfrm>
          <a:prstGeom prst="roundRect">
            <a:avLst>
              <a:gd name="adj" fmla="val 17651"/>
            </a:avLst>
          </a:prstGeom>
          <a:noFill/>
          <a:ln w="7620">
            <a:solidFill>
              <a:srgbClr val="95CCDA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97612" y="481608"/>
            <a:ext cx="116681" cy="11668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972633" y="452438"/>
            <a:ext cx="82236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95CCD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FUTURE VISION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2702481" y="737116"/>
            <a:ext cx="3646408" cy="4557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550"/>
              </a:lnSpc>
              <a:buNone/>
            </a:pPr>
            <a:r>
              <a:rPr lang="en-US" sz="28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Future Enhancements</a:t>
            </a:r>
            <a:endParaRPr lang="en-US" sz="2850" dirty="0"/>
          </a:p>
        </p:txBody>
      </p:sp>
      <p:sp>
        <p:nvSpPr>
          <p:cNvPr id="6" name="Text 3"/>
          <p:cNvSpPr/>
          <p:nvPr/>
        </p:nvSpPr>
        <p:spPr>
          <a:xfrm>
            <a:off x="2702481" y="1411605"/>
            <a:ext cx="9225320" cy="2187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Our roadmap includes exciting innovations to further elevate the platform: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702481" y="1794391"/>
            <a:ext cx="145852" cy="1090136"/>
          </a:xfrm>
          <a:prstGeom prst="roundRect">
            <a:avLst>
              <a:gd name="adj" fmla="val 42001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994184" y="1940243"/>
            <a:ext cx="2762845" cy="273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Secure Payment Integration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2994184" y="2301240"/>
            <a:ext cx="8933617" cy="4374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Complete online payment gateway supporting multiple methods—credit cards, UPI, digital wallets—with robust security protocols and instant transaction confirmations.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921198" y="3030379"/>
            <a:ext cx="145852" cy="1090136"/>
          </a:xfrm>
          <a:prstGeom prst="roundRect">
            <a:avLst>
              <a:gd name="adj" fmla="val 42001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3212902" y="3176230"/>
            <a:ext cx="3100864" cy="273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AI-Powered Recommendations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3212902" y="3537228"/>
            <a:ext cx="8714899" cy="4374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Machine learning algorithms analyse user preferences, past bookings, and trending destinations to suggest personalised itineraries perfectly matched to individual interests.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140035" y="4266367"/>
            <a:ext cx="145852" cy="1090136"/>
          </a:xfrm>
          <a:prstGeom prst="roundRect">
            <a:avLst>
              <a:gd name="adj" fmla="val 42001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431738" y="4412218"/>
            <a:ext cx="2187773" cy="273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Virtual Reality Tours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3431738" y="4773216"/>
            <a:ext cx="8496062" cy="4374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Immersive AR/VR experiences allowing users to virtually explore heritage sites before visiting, with 360° views, interactive historical reconstructions, and guided virtual walks.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3358753" y="5502354"/>
            <a:ext cx="145852" cy="1090136"/>
          </a:xfrm>
          <a:prstGeom prst="roundRect">
            <a:avLst>
              <a:gd name="adj" fmla="val 42001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650456" y="5648206"/>
            <a:ext cx="2187773" cy="273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Mobile Applications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3650456" y="6009203"/>
            <a:ext cx="8277344" cy="4374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Native iOS and Android apps with offline capabilities, location-based notifications, and enhanced mobile-specific features for on-the-go travellers.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3140035" y="6738342"/>
            <a:ext cx="145852" cy="1090136"/>
          </a:xfrm>
          <a:prstGeom prst="roundRect">
            <a:avLst>
              <a:gd name="adj" fmla="val 42001"/>
            </a:avLst>
          </a:prstGeom>
          <a:solidFill>
            <a:srgbClr val="D9EDF2"/>
          </a:solidFill>
          <a:ln w="7620">
            <a:solidFill>
              <a:srgbClr val="BFD3D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431738" y="6884194"/>
            <a:ext cx="2919889" cy="273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Expanded Language Support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3431738" y="7245191"/>
            <a:ext cx="8496062" cy="4374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1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Addition of more regional and international languages, making the platform accessible to broader audiences and promoting inclusive tourism across diverse communities.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3130" y="530066"/>
            <a:ext cx="4807863" cy="6009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Conclusion</a:t>
            </a:r>
            <a:endParaRPr lang="en-US" sz="3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3130" y="1635681"/>
            <a:ext cx="5847398" cy="584739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557254" y="1611630"/>
            <a:ext cx="4313753" cy="3605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Bridging Culture and Technology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7557254" y="2164437"/>
            <a:ext cx="5847398" cy="865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project represents more than a website—it's a digital gateway to India's soul, connecting generations of heritage with modern technology.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7557254" y="3202543"/>
            <a:ext cx="5847398" cy="865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By simplifying tourism planning and providing authentic cultural context, we empower travellers to explore India with confidence and depth.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557254" y="4240649"/>
            <a:ext cx="5847398" cy="865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platform encourages cultural awareness, supports heritage preservation, and contributes to sustainable tourism growth across the nation.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845623" y="5322094"/>
            <a:ext cx="5559028" cy="5767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50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"A complete digital tourism solution that honours the past while embracing the future."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7557254" y="5322094"/>
            <a:ext cx="22860" cy="576739"/>
          </a:xfrm>
          <a:prstGeom prst="rect">
            <a:avLst/>
          </a:prstGeom>
          <a:solidFill>
            <a:srgbClr val="95CCDA"/>
          </a:solidFill>
          <a:ln/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705689"/>
            <a:ext cx="23298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1</a:t>
            </a:r>
            <a:endParaRPr lang="en-US" sz="5850" dirty="0"/>
          </a:p>
        </p:txBody>
      </p:sp>
      <p:sp>
        <p:nvSpPr>
          <p:cNvPr id="4" name="Text 1"/>
          <p:cNvSpPr/>
          <p:nvPr/>
        </p:nvSpPr>
        <p:spPr>
          <a:xfrm>
            <a:off x="793790" y="2737485"/>
            <a:ext cx="23298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Unified Platform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3227903"/>
            <a:ext cx="2329815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Single destination for all tourism needs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3407093" y="1705689"/>
            <a:ext cx="23298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100+</a:t>
            </a:r>
            <a:endParaRPr lang="en-US" sz="5850" dirty="0"/>
          </a:p>
        </p:txBody>
      </p:sp>
      <p:sp>
        <p:nvSpPr>
          <p:cNvPr id="7" name="Text 4"/>
          <p:cNvSpPr/>
          <p:nvPr/>
        </p:nvSpPr>
        <p:spPr>
          <a:xfrm>
            <a:off x="3407093" y="2737485"/>
            <a:ext cx="23298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Heritage Sites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3407093" y="3227903"/>
            <a:ext cx="2329815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Comprehensive coverage across India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6020395" y="1705689"/>
            <a:ext cx="23298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24/7</a:t>
            </a:r>
            <a:endParaRPr lang="en-US" sz="5850" dirty="0"/>
          </a:p>
        </p:txBody>
      </p:sp>
      <p:sp>
        <p:nvSpPr>
          <p:cNvPr id="10" name="Text 7"/>
          <p:cNvSpPr/>
          <p:nvPr/>
        </p:nvSpPr>
        <p:spPr>
          <a:xfrm>
            <a:off x="6020395" y="2737485"/>
            <a:ext cx="232981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384653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Support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6020395" y="3227903"/>
            <a:ext cx="2329815" cy="680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Always available assistance</a:t>
            </a:r>
            <a:endParaRPr lang="en-US" sz="1750" dirty="0"/>
          </a:p>
        </p:txBody>
      </p:sp>
      <p:sp>
        <p:nvSpPr>
          <p:cNvPr id="12" name="Shape 9"/>
          <p:cNvSpPr/>
          <p:nvPr/>
        </p:nvSpPr>
        <p:spPr>
          <a:xfrm>
            <a:off x="793790" y="4276758"/>
            <a:ext cx="7556421" cy="35957"/>
          </a:xfrm>
          <a:prstGeom prst="rect">
            <a:avLst/>
          </a:prstGeom>
          <a:solidFill>
            <a:srgbClr val="384653">
              <a:alpha val="50000"/>
            </a:srgbClr>
          </a:solidFill>
          <a:ln/>
        </p:spPr>
      </p:sp>
      <p:sp>
        <p:nvSpPr>
          <p:cNvPr id="13" name="Text 10"/>
          <p:cNvSpPr/>
          <p:nvPr/>
        </p:nvSpPr>
        <p:spPr>
          <a:xfrm>
            <a:off x="793790" y="465284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Thank You</a:t>
            </a:r>
            <a:endParaRPr lang="en-US" sz="4450" dirty="0"/>
          </a:p>
        </p:txBody>
      </p:sp>
      <p:sp>
        <p:nvSpPr>
          <p:cNvPr id="14" name="Text 11"/>
          <p:cNvSpPr/>
          <p:nvPr/>
        </p:nvSpPr>
        <p:spPr>
          <a:xfrm>
            <a:off x="793790" y="5701784"/>
            <a:ext cx="7556421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Questions and feedback welcome</a:t>
            </a:r>
            <a:endParaRPr lang="en-US" sz="1750" dirty="0"/>
          </a:p>
        </p:txBody>
      </p:sp>
      <p:sp>
        <p:nvSpPr>
          <p:cNvPr id="15" name="Text 12"/>
          <p:cNvSpPr/>
          <p:nvPr/>
        </p:nvSpPr>
        <p:spPr>
          <a:xfrm>
            <a:off x="793790" y="6297097"/>
            <a:ext cx="7556421" cy="3401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17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Connecting travellers with India's magnificent heritage, one click at a time.</a:t>
            </a:r>
            <a:endParaRPr lang="en-US" sz="1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7813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41640" y="3231594"/>
            <a:ext cx="11362492" cy="1324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400"/>
              </a:lnSpc>
              <a:buNone/>
            </a:pPr>
            <a:r>
              <a:rPr lang="en-US" sz="830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Explore India's Heritage</a:t>
            </a:r>
            <a:endParaRPr lang="en-US" sz="8300" dirty="0"/>
          </a:p>
        </p:txBody>
      </p:sp>
      <p:sp>
        <p:nvSpPr>
          <p:cNvPr id="4" name="Text 1"/>
          <p:cNvSpPr/>
          <p:nvPr/>
        </p:nvSpPr>
        <p:spPr>
          <a:xfrm>
            <a:off x="741640" y="4873704"/>
            <a:ext cx="13147119" cy="6357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presentation showcased our comprehensive web platform designed to revolutionise heritage tourism in India through thoughtful technology integration and user-centric design.</a:t>
            </a:r>
            <a:endParaRPr lang="en-US" sz="1650" dirty="0"/>
          </a:p>
        </p:txBody>
      </p:sp>
      <p:sp>
        <p:nvSpPr>
          <p:cNvPr id="5" name="Text 2"/>
          <p:cNvSpPr/>
          <p:nvPr/>
        </p:nvSpPr>
        <p:spPr>
          <a:xfrm>
            <a:off x="741640" y="5959673"/>
            <a:ext cx="2648903" cy="33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Connect</a:t>
            </a:r>
            <a:endParaRPr lang="en-US" sz="2050" dirty="0"/>
          </a:p>
        </p:txBody>
      </p:sp>
      <p:sp>
        <p:nvSpPr>
          <p:cNvPr id="6" name="Text 3"/>
          <p:cNvSpPr/>
          <p:nvPr/>
        </p:nvSpPr>
        <p:spPr>
          <a:xfrm>
            <a:off x="741640" y="6502598"/>
            <a:ext cx="3992166" cy="9536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Contact us for more information about the project and future collaboration opportunities.</a:t>
            </a:r>
            <a:endParaRPr lang="en-US" sz="1650" dirty="0"/>
          </a:p>
        </p:txBody>
      </p:sp>
      <p:sp>
        <p:nvSpPr>
          <p:cNvPr id="7" name="Text 4"/>
          <p:cNvSpPr/>
          <p:nvPr/>
        </p:nvSpPr>
        <p:spPr>
          <a:xfrm>
            <a:off x="5258395" y="5959673"/>
            <a:ext cx="2648903" cy="33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Explore</a:t>
            </a:r>
            <a:endParaRPr lang="en-US" sz="2050" dirty="0"/>
          </a:p>
        </p:txBody>
      </p:sp>
      <p:sp>
        <p:nvSpPr>
          <p:cNvPr id="8" name="Text 5"/>
          <p:cNvSpPr/>
          <p:nvPr/>
        </p:nvSpPr>
        <p:spPr>
          <a:xfrm>
            <a:off x="5258395" y="6502598"/>
            <a:ext cx="3992166" cy="6357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Visit our prototype website to experience the platform's features firsthand.</a:t>
            </a:r>
            <a:endParaRPr lang="en-US" sz="1650" dirty="0"/>
          </a:p>
        </p:txBody>
      </p:sp>
      <p:sp>
        <p:nvSpPr>
          <p:cNvPr id="9" name="Text 6"/>
          <p:cNvSpPr/>
          <p:nvPr/>
        </p:nvSpPr>
        <p:spPr>
          <a:xfrm>
            <a:off x="9775150" y="5959673"/>
            <a:ext cx="2648903" cy="33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50" dirty="0">
                <a:solidFill>
                  <a:srgbClr val="2E3C4E"/>
                </a:solidFill>
                <a:latin typeface="Host Grotesk Medium" pitchFamily="34" charset="0"/>
                <a:ea typeface="Host Grotesk Medium" pitchFamily="34" charset="-122"/>
                <a:cs typeface="Host Grotesk Medium" pitchFamily="34" charset="-120"/>
              </a:rPr>
              <a:t>Contribute</a:t>
            </a:r>
            <a:endParaRPr lang="en-US" sz="2050" dirty="0"/>
          </a:p>
        </p:txBody>
      </p:sp>
      <p:sp>
        <p:nvSpPr>
          <p:cNvPr id="10" name="Text 7"/>
          <p:cNvSpPr/>
          <p:nvPr/>
        </p:nvSpPr>
        <p:spPr>
          <a:xfrm>
            <a:off x="9775150" y="6502598"/>
            <a:ext cx="4128730" cy="6357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50" dirty="0">
                <a:solidFill>
                  <a:srgbClr val="38465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Join us in promoting India's rich cultural heritage through digital innovation.</a:t>
            </a:r>
            <a:endParaRPr lang="en-US" sz="1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1579</Words>
  <Application>Microsoft Office PowerPoint</Application>
  <PresentationFormat>Custom</PresentationFormat>
  <Paragraphs>204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Host Grotesk Medium</vt:lpstr>
      <vt:lpstr>Arial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sujitha</dc:creator>
  <cp:lastModifiedBy>sujithaadimulam9@gmail.com</cp:lastModifiedBy>
  <cp:revision>2</cp:revision>
  <dcterms:created xsi:type="dcterms:W3CDTF">2026-01-06T07:17:27Z</dcterms:created>
  <dcterms:modified xsi:type="dcterms:W3CDTF">2026-01-06T07:38:52Z</dcterms:modified>
</cp:coreProperties>
</file>